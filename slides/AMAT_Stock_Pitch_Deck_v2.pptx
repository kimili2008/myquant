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651838d3994d28" /><Relationship Type="http://schemas.openxmlformats.org/officeDocument/2006/relationships/extended-properties" Target="/docProps/app.xml" Id="Rcd4f1c4cafae4c1b" /><Relationship Type="http://schemas.openxmlformats.org/officeDocument/2006/relationships/officeDocument" Target="/ppt/presentation.xml" Id="Rebf2bd20f9a146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f5506063644cfb"/>
  </p:sldMasterIdLst>
  <p:notesMasterIdLst>
    <p:notesMasterId xmlns:r="http://schemas.openxmlformats.org/officeDocument/2006/relationships" r:id="Rf4ccfcfbe20348ec"/>
  </p:notesMasterIdLst>
  <p:sldIdLst>
    <p:sldId xmlns:r="http://schemas.openxmlformats.org/officeDocument/2006/relationships" id="256" r:id="R05f2a362f92c462f"/>
    <p:sldId xmlns:r="http://schemas.openxmlformats.org/officeDocument/2006/relationships" id="257" r:id="R40bca1bab1bd4564"/>
    <p:sldId xmlns:r="http://schemas.openxmlformats.org/officeDocument/2006/relationships" id="258" r:id="Refa25d20599245e2"/>
    <p:sldId xmlns:r="http://schemas.openxmlformats.org/officeDocument/2006/relationships" id="259" r:id="R784b93607e5c43ac"/>
    <p:sldId xmlns:r="http://schemas.openxmlformats.org/officeDocument/2006/relationships" id="260" r:id="R467eec6c83dd45b5"/>
    <p:sldId xmlns:r="http://schemas.openxmlformats.org/officeDocument/2006/relationships" id="261" r:id="Ree8474cc9f7249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cb6496071e4c4a" /><Relationship Type="http://schemas.openxmlformats.org/officeDocument/2006/relationships/slideMaster" Target="/ppt/slideMasters/slideMaster1.xml" Id="R08f5506063644cfb" /><Relationship Type="http://schemas.openxmlformats.org/officeDocument/2006/relationships/notesMaster" Target="/ppt/notesMasters/notesMaster1.xml" Id="Rf4ccfcfbe20348ec" /><Relationship Type="http://schemas.openxmlformats.org/officeDocument/2006/relationships/presProps" Target="/ppt/presProps.xml" Id="R9701cc03e5234de2" /><Relationship Type="http://schemas.openxmlformats.org/officeDocument/2006/relationships/tableStyles" Target="/ppt/tableStyles.xml" Id="Rc55ccc48b2a64a23" /><Relationship Type="http://schemas.openxmlformats.org/officeDocument/2006/relationships/slide" Target="/ppt/slides/slide1.xml" Id="R05f2a362f92c462f" /><Relationship Type="http://schemas.openxmlformats.org/officeDocument/2006/relationships/slide" Target="/ppt/slides/slide2.xml" Id="R40bca1bab1bd4564" /><Relationship Type="http://schemas.openxmlformats.org/officeDocument/2006/relationships/slide" Target="/ppt/slides/slide3.xml" Id="Refa25d20599245e2" /><Relationship Type="http://schemas.openxmlformats.org/officeDocument/2006/relationships/slide" Target="/ppt/slides/slide4.xml" Id="R784b93607e5c43ac" /><Relationship Type="http://schemas.openxmlformats.org/officeDocument/2006/relationships/slide" Target="/ppt/slides/slide5.xml" Id="R467eec6c83dd45b5" /><Relationship Type="http://schemas.openxmlformats.org/officeDocument/2006/relationships/slide" Target="/ppt/slides/slide6.xml" Id="Ree8474cc9f7249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97dbd5989b49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f7b64a39c4423e" /><Relationship Type="http://schemas.openxmlformats.org/officeDocument/2006/relationships/notesMaster" Target="/ppt/notesMasters/notesMaster1.xml" Id="R03f839c7f0bb46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51c737f70f4184" /><Relationship Type="http://schemas.openxmlformats.org/officeDocument/2006/relationships/notesMaster" Target="/ppt/notesMasters/notesMaster1.xml" Id="R6e0f8248ea2d4c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827b091686478e" /><Relationship Type="http://schemas.openxmlformats.org/officeDocument/2006/relationships/notesMaster" Target="/ppt/notesMasters/notesMaster1.xml" Id="R1073b053734a4f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1be66fa7954da4" /><Relationship Type="http://schemas.openxmlformats.org/officeDocument/2006/relationships/notesMaster" Target="/ppt/notesMasters/notesMaster1.xml" Id="R7e5594658ae948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c137b93a9440e0" /><Relationship Type="http://schemas.openxmlformats.org/officeDocument/2006/relationships/notesMaster" Target="/ppt/notesMasters/notesMaster1.xml" Id="R0159282ddd384a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cdc1bd9dd442ff" /><Relationship Type="http://schemas.openxmlformats.org/officeDocument/2006/relationships/notesMaster" Target="/ppt/notesMasters/notesMaster1.xml" Id="Rcc2b1675535b4a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Applied Materials FY2025 Form 10-K; Applied Materials Q3 FY2026 results, 13 August 2026. Educational research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Applied Materials Q3 FY2026 results (13 Aug 2026); FY2025 Form 10-K filed 11 Dec 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Applied Materials FY2025 Form 10-K, business and segment descriptions. Final sentence is an analytical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agenda based on FY2025 Form 10-K business description and FY2026 operating update. No price target is 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Applied Materials FY2025 Form 10-K risk factors and customer concentration disclosures. The valuation item is analytical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Applied Materials FY2025 Form 10-K and Q3 FY2026 results. Comparable set is a research framework, not a valuation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6f18d9de34f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d0fd8177e74ea2" /><Relationship Type="http://schemas.openxmlformats.org/officeDocument/2006/relationships/slideLayout" Target="/ppt/slideLayouts/slideLayout1.xml" Id="Rc1c8553d05754f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c8553d05754f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c0c5e7b084a35" /><Relationship Type="http://schemas.openxmlformats.org/officeDocument/2006/relationships/notesSlide" Target="/ppt/notesSlides/notesSlide1.xml" Id="Rb588c7586f7543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77f20a89e4911" /><Relationship Type="http://schemas.openxmlformats.org/officeDocument/2006/relationships/notesSlide" Target="/ppt/notesSlides/notesSlide2.xml" Id="R2e0a1057d62145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5a60e3f354932" /><Relationship Type="http://schemas.openxmlformats.org/officeDocument/2006/relationships/notesSlide" Target="/ppt/notesSlides/notesSlide3.xml" Id="R0f7db0a7e2004c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a7400a7504133" /><Relationship Type="http://schemas.openxmlformats.org/officeDocument/2006/relationships/notesSlide" Target="/ppt/notesSlides/notesSlide4.xml" Id="R23afd0f7d4604d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0933e11094327" /><Relationship Type="http://schemas.openxmlformats.org/officeDocument/2006/relationships/notesSlide" Target="/ppt/notesSlides/notesSlide5.xml" Id="Re5722f9f6ba940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09aa680de4a2b" /><Relationship Type="http://schemas.openxmlformats.org/officeDocument/2006/relationships/notesSlide" Target="/ppt/notesSlides/notesSlide6.xml" Id="R97de6928e1c74a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59B9C-7098-4B58-92A3-D2EFEB88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Applied Materials: stock-pitch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7D73C-94DC-4D8F-88D9-B02EF18C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Watchlist | Semiconductor equipment, AI infrastructure and process complexity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0EB38-E578-4BEE-98E1-F93187DE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2A58F-BEEC-4169-8FAC-977E640D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31B3E-B2A3-4E71-A55E-38AD8540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1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6D44F-A996-415D-9562-E26F6809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Current view: Watchlist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89468-449A-4156-A766-E1EC81A9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942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Operating evidence is strong; a defensible Long or Short requires a current valuation, cycle-normalised earnings assumptions and a clear view of what the share price already implies.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DA1E8-7E81-46FF-A242-2F6CB165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7810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73EB5-273B-4F1D-9D2D-AA5935B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38650"/>
            <a:ext cx="742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Research exercise only — not investment advice</a:t>
            </a:r>
          </a:p>
        </p:txBody>
      </p:sp>
    </p:spTree>
    <p:extLst>
      <p:ext uri="{BB962C8B-B14F-4D97-AF65-F5344CB8AC3E}">
        <p14:creationId xmlns:p14="http://schemas.microsoft.com/office/powerpoint/2010/main" val="1138780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B02C8-E43C-4EAC-A6A0-3D511CCD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Operating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AEB44-C39F-40FB-94D2-D86DB314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Reported facts are separated from valuation 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F68EF-E16A-435E-9791-139A370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CCD0E-2B85-4FF7-9A80-B5BA5B52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59C3E-B9C5-4043-9903-3E27B55D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2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7035A-ED22-49DB-AD4F-A963ABD4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506F2-6EAE-41E9-866F-76A1532D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145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Q3 FY2026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A2A7E-12D8-46B2-8F90-6AD08F6C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3143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$9.12bn revenue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50.3% GAAP gross margin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$3.08bn GAAP operating income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$3.17 GAAP 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B2C61-6CF0-4FC0-B7A1-35506BCA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10E55-FFB3-4C85-8230-040CDDA4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145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FY2025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5FF52-9DFD-4548-8919-96F367F6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$28.37bn total revenue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$20.80bn Semiconductor Systems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$6.39bn Applied Global Services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$7.96bn operating cash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DDDA1-45B9-4A61-BA5E-A88A5E1C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62125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F0F87-597D-409E-B640-13A88E4A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145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Capital intensity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2E5DF-13AF-4782-9B99-ACEB3917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3143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$2.26bn FY2025 capex</a:t>
            </a:r>
          </a:p>
          <a:p xmlns:a="http://schemas.openxmlformats.org/drawingml/2006/main">
            <a:pPr>
              <a:def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Segment mix and cash conversion must be normalised through the cycle.</a:t>
            </a:r>
          </a:p>
        </p:txBody>
      </p:sp>
    </p:spTree>
    <p:extLst>
      <p:ext uri="{BB962C8B-B14F-4D97-AF65-F5344CB8AC3E}">
        <p14:creationId xmlns:p14="http://schemas.microsoft.com/office/powerpoint/2010/main" val="944257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EAD6C-B712-4793-994B-1A48B849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Why the business can matter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17363-2733-480E-AD35-3F79F3E6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Engineering lens: process complexity creates both opportunity and execution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E29A1-2C0E-4400-AE1A-13AFA95F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19534-7D7C-4848-84DA-446B2409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E42F7-4402-44BB-A15F-CBBA7954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3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80CEF-BE48-4108-97F2-45ACEA39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Equipment portfolio spans patterning, transistor and interconnect fabrication, process control and advanced packaging.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AI-related demand can raise the importance of leading-edge logic, high-bandwidth memory and packaging; it does not remove cyclicality.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Applied Global Services adds spares, services and factory-automation software linked to the installed base.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The investment question is not ‘AI is growing’; it is whether incremental process intensity, service attach and mix are above what the market already prices.</a:t>
            </a:r>
          </a:p>
        </p:txBody>
      </p:sp>
    </p:spTree>
    <p:extLst>
      <p:ext uri="{BB962C8B-B14F-4D97-AF65-F5344CB8AC3E}">
        <p14:creationId xmlns:p14="http://schemas.microsoft.com/office/powerpoint/2010/main" val="1699124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C0B14-ED6F-4C29-B808-60162DCE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Catalysts to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4D9D0-5EB0-492E-9D57-3F4E465C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Each catalyst needs an observable evidence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A7562-A3C8-43FC-BFF9-6FB0D061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C5560-DFFB-4F20-9B95-4BA4A794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D2FB8-4B05-4B3A-B971-E15D3684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4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6EBD5-79A8-4A34-98E9-081E4B85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2BDB2-D34E-4C53-BE46-0F5CA1D8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1. Advanced logic / HBM / packaging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0B5FF-C563-4A1C-B83A-0B7FC703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Does spending sustain and does Applied gain in material or process-control steps?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11970-7B3D-4E63-AAA3-2AAFDE79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D5F04-3C18-4A44-B6DB-5EB02EFE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2. Mix and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1D470-3CE2-40A3-A23C-A15A484D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1462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Does higher-margin service, automation or differentiated equipment mix improve cycle-normalised economics?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37016-6C3F-476D-A92D-02BFD5BD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C03AD-3A46-4C2C-B5DB-9AD615F1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3. Market expectations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295A3-C741-4E3E-B8F4-6A5E1CFB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Back-solve the growth, margin and reinvestment assumptions implied by today’s enterprise value; compare them with a bottom-up, segment-aware model.</a:t>
            </a:r>
          </a:p>
        </p:txBody>
      </p:sp>
    </p:spTree>
    <p:extLst>
      <p:ext uri="{BB962C8B-B14F-4D97-AF65-F5344CB8AC3E}">
        <p14:creationId xmlns:p14="http://schemas.microsoft.com/office/powerpoint/2010/main" val="11672177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281D9-D5E8-41D7-9024-F61227EB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Disconfirming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1321A-6FC6-4753-9CB4-9BEE6425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The thesis should fail clearly if the evidence turns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09062-3CDB-41D5-8BFB-3EEDC4CC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FAF15-065A-459F-B2E3-38960F57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06E91-B112-4EC7-8F85-A9A46F46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5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27C67-21C1-4B8D-B867-B186140C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Foundry or memory capex cuts and weaker returns on recently built capacity.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Trade and export restrictions, including greater difficulty serving some customers or regions.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Customer concentration: the FY2025 10-K reports two customers contributing approximately 19% and 15% of net revenue.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Technological substitution, share loss, execution delays or lower-than-expected services resilience.</a:t>
            </a:r>
          </a:p>
          <a:p xmlns:a="http://schemas.openxmlformats.org/drawingml/2006/main">
            <a:pPr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• A valuation that already assumes a sustained step-up in growth or margins.</a:t>
            </a:r>
          </a:p>
        </p:txBody>
      </p:sp>
    </p:spTree>
    <p:extLst>
      <p:ext uri="{BB962C8B-B14F-4D97-AF65-F5344CB8AC3E}">
        <p14:creationId xmlns:p14="http://schemas.microsoft.com/office/powerpoint/2010/main" val="989769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123E5-7987-4FEF-9B10-CC3E4EEE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Valuation framework before a rating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34E22-542D-42A6-951D-E3B436E8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Build the model; do not reverse-engineer a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65E90-2AF2-4B60-9E9D-CEDB7BC4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D62"/>
          </a:solidFill>
          <a:ln xmlns:a="http://schemas.openxmlformats.org/drawingml/2006/main" w="0">
            <a:solidFill>
              <a:srgbClr val="193D6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0693B-FEED-4E2C-B7ED-5FACD127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MYQUANT  |  Oxford Quant-First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B7305-4797-4A62-8CD8-6468180F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566270"/>
                </a:solidFill>
                <a:latin typeface="Helvetica Neue"/>
                <a:ea typeface="Helvetica Neue"/>
                <a:cs typeface="Helvetica Neue"/>
              </a:rPr>
              <a:t>6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A1597-60EA-4DF9-9E36-B2DBD450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323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2E1D3-D0A6-4D00-8735-AAFA0D31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62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DCF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EE291-855D-4853-846A-EE54C916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Start from FY2025 cash flow and capex, then forecast revenue, margin, tax, working capital and reinvestment by segment. Sensitise WACC and terminal growth.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74C34-B9D1-46FD-B4DC-D4B2D895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49184-3510-4DAC-BAEC-17586C81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Comparables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5C68D-9722-4B1D-9278-D02D8C70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Compare ASML, Lam Research, KLA and Tokyo Electron on growth, margin, FCF conversion and exposure—after normalising fiscal years and business mix.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DAB4F-E114-4FC0-B9B0-A78818E5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09750"/>
            <a:ext cx="323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F6B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207A1-5618-47EC-B063-9EE20E03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62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3D62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4FCDE-E194-4942-A831-903431A7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860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Only issue a Long or Short when market-implied assumptions differ materially from a traceable base case, with stated catalysts and risks.</a:t>
            </a:r>
          </a:p>
        </p:txBody>
      </p:sp>
    </p:spTree>
    <p:extLst>
      <p:ext uri="{BB962C8B-B14F-4D97-AF65-F5344CB8AC3E}">
        <p14:creationId xmlns:p14="http://schemas.microsoft.com/office/powerpoint/2010/main" val="566113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2026-09-12T10:35:53.3540000Z</dcterms:created>
  <dcterms:modified xsi:type="dcterms:W3CDTF">2026-09-12T10:35:53.3540000Z</dcterms:modified>
</coreProperties>
</file>