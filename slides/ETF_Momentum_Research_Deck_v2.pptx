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d438f573e940f2" /><Relationship Type="http://schemas.openxmlformats.org/officeDocument/2006/relationships/extended-properties" Target="/docProps/app.xml" Id="R2deb4bc3c6e641af" /><Relationship Type="http://schemas.openxmlformats.org/officeDocument/2006/relationships/officeDocument" Target="/ppt/presentation.xml" Id="Ra992e2fcb53e44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eafc1becd34e00"/>
  </p:sldMasterIdLst>
  <p:notesMasterIdLst>
    <p:notesMasterId xmlns:r="http://schemas.openxmlformats.org/officeDocument/2006/relationships" r:id="R98b4412c8d2c4c94"/>
  </p:notesMasterIdLst>
  <p:sldIdLst>
    <p:sldId xmlns:r="http://schemas.openxmlformats.org/officeDocument/2006/relationships" id="256" r:id="Ra7b2cc44ca2240af"/>
    <p:sldId xmlns:r="http://schemas.openxmlformats.org/officeDocument/2006/relationships" id="257" r:id="R2757d188ed0c4746"/>
    <p:sldId xmlns:r="http://schemas.openxmlformats.org/officeDocument/2006/relationships" id="258" r:id="Rd86a33e3d7f542ce"/>
    <p:sldId xmlns:r="http://schemas.openxmlformats.org/officeDocument/2006/relationships" id="259" r:id="Rdce08ffe07c64e1c"/>
    <p:sldId xmlns:r="http://schemas.openxmlformats.org/officeDocument/2006/relationships" id="260" r:id="R01c3617a84044b39"/>
    <p:sldId xmlns:r="http://schemas.openxmlformats.org/officeDocument/2006/relationships" id="261" r:id="R4af3379f552e4b77"/>
    <p:sldId xmlns:r="http://schemas.openxmlformats.org/officeDocument/2006/relationships" id="262" r:id="Rceac99a7e1a14d3f"/>
    <p:sldId xmlns:r="http://schemas.openxmlformats.org/officeDocument/2006/relationships" id="263" r:id="R27e3b3bc556043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6b9da758924e7b" /><Relationship Type="http://schemas.openxmlformats.org/officeDocument/2006/relationships/slideMaster" Target="/ppt/slideMasters/slideMaster1.xml" Id="R8beafc1becd34e00" /><Relationship Type="http://schemas.openxmlformats.org/officeDocument/2006/relationships/notesMaster" Target="/ppt/notesMasters/notesMaster1.xml" Id="R98b4412c8d2c4c94" /><Relationship Type="http://schemas.openxmlformats.org/officeDocument/2006/relationships/presProps" Target="/ppt/presProps.xml" Id="Rbdbe1763e29b41da" /><Relationship Type="http://schemas.openxmlformats.org/officeDocument/2006/relationships/tableStyles" Target="/ppt/tableStyles.xml" Id="Rb214c314f571415f" /><Relationship Type="http://schemas.openxmlformats.org/officeDocument/2006/relationships/slide" Target="/ppt/slides/slide1.xml" Id="Ra7b2cc44ca2240af" /><Relationship Type="http://schemas.openxmlformats.org/officeDocument/2006/relationships/slide" Target="/ppt/slides/slide2.xml" Id="R2757d188ed0c4746" /><Relationship Type="http://schemas.openxmlformats.org/officeDocument/2006/relationships/slide" Target="/ppt/slides/slide3.xml" Id="Rd86a33e3d7f542ce" /><Relationship Type="http://schemas.openxmlformats.org/officeDocument/2006/relationships/slide" Target="/ppt/slides/slide4.xml" Id="Rdce08ffe07c64e1c" /><Relationship Type="http://schemas.openxmlformats.org/officeDocument/2006/relationships/slide" Target="/ppt/slides/slide5.xml" Id="R01c3617a84044b39" /><Relationship Type="http://schemas.openxmlformats.org/officeDocument/2006/relationships/slide" Target="/ppt/slides/slide6.xml" Id="R4af3379f552e4b77" /><Relationship Type="http://schemas.openxmlformats.org/officeDocument/2006/relationships/slide" Target="/ppt/slides/slide7.xml" Id="Rceac99a7e1a14d3f" /><Relationship Type="http://schemas.openxmlformats.org/officeDocument/2006/relationships/slide" Target="/ppt/slides/slide8.xml" Id="R27e3b3bc556043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c6d61d87a448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e25977c3cf413f" /><Relationship Type="http://schemas.openxmlformats.org/officeDocument/2006/relationships/notesMaster" Target="/ppt/notesMasters/notesMaster1.xml" Id="R888034d2eec74c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ff9148fda244f0" /><Relationship Type="http://schemas.openxmlformats.org/officeDocument/2006/relationships/notesMaster" Target="/ppt/notesMasters/notesMaster1.xml" Id="R9cb3b224671c4b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7f84eb376840c9" /><Relationship Type="http://schemas.openxmlformats.org/officeDocument/2006/relationships/notesMaster" Target="/ppt/notesMasters/notesMaster1.xml" Id="Rda16d3c93a134a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70a30cd717464a" /><Relationship Type="http://schemas.openxmlformats.org/officeDocument/2006/relationships/notesMaster" Target="/ppt/notesMasters/notesMaster1.xml" Id="R3ccbf6f5849c40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ab27c72ebf48f9" /><Relationship Type="http://schemas.openxmlformats.org/officeDocument/2006/relationships/notesMaster" Target="/ppt/notesMasters/notesMaster1.xml" Id="Ra45f5e66df8a4f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35130e84404e08" /><Relationship Type="http://schemas.openxmlformats.org/officeDocument/2006/relationships/notesMaster" Target="/ppt/notesMasters/notesMaster1.xml" Id="R667af00702c348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93bae86e8640d1" /><Relationship Type="http://schemas.openxmlformats.org/officeDocument/2006/relationships/notesMaster" Target="/ppt/notesMasters/notesMaster1.xml" Id="Rf9994ff7b00248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9682af036e4fa9" /><Relationship Type="http://schemas.openxmlformats.org/officeDocument/2006/relationships/notesMaster" Target="/ppt/notesMasters/notesMaster1.xml" Id="Ref0dc3f7734345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MyQuant reproducible research code and cached Yahoo Finance adjusted-close data. Educational research, not investment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MyQuant momentum_research/src/strategy.py. Methodology was designed for transparent interview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MyQuant unit tests and README. Limitations are deliberate, not hidden.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momentum_research/data/results/metrics.csv, generated 12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momentum_research/data/results/metrics.csv, generated 12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Interpretation based on results and declared limitations in MyQuant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next steps; no external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MyQuant repository. Educational research, not investment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88d4c961c04f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eb977b189b486a" /><Relationship Type="http://schemas.openxmlformats.org/officeDocument/2006/relationships/slideLayout" Target="/ppt/slideLayouts/slideLayout1.xml" Id="R65dbd9b9a32748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dbd9b9a32748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47eb70bc2491d" /><Relationship Type="http://schemas.openxmlformats.org/officeDocument/2006/relationships/notesSlide" Target="/ppt/notesSlides/notesSlide1.xml" Id="Rbf9af0a10e5249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e37fb921b4a09" /><Relationship Type="http://schemas.openxmlformats.org/officeDocument/2006/relationships/notesSlide" Target="/ppt/notesSlides/notesSlide2.xml" Id="Rdd4a8c854e874c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b3070a89846a5" /><Relationship Type="http://schemas.openxmlformats.org/officeDocument/2006/relationships/notesSlide" Target="/ppt/notesSlides/notesSlide3.xml" Id="R18f4e0ef288e44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7edf3e0e64941" /><Relationship Type="http://schemas.openxmlformats.org/officeDocument/2006/relationships/notesSlide" Target="/ppt/notesSlides/notesSlide4.xml" Id="Rde0aed7a6e9b43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a6cf8f1b84745" /><Relationship Type="http://schemas.openxmlformats.org/officeDocument/2006/relationships/notesSlide" Target="/ppt/notesSlides/notesSlide5.xml" Id="Rf7abe4bf4ad34b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cbb81bf7d4b60" /><Relationship Type="http://schemas.openxmlformats.org/officeDocument/2006/relationships/notesSlide" Target="/ppt/notesSlides/notesSlide6.xml" Id="Ra9689bcbe7b547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1f92ad3bd4e4a" /><Relationship Type="http://schemas.openxmlformats.org/officeDocument/2006/relationships/notesSlide" Target="/ppt/notesSlides/notesSlide7.xml" Id="Rce8d4b6e721d47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748505ad241de" /><Relationship Type="http://schemas.openxmlformats.org/officeDocument/2006/relationships/notesSlide" Target="/ppt/notesSlides/notesSlide8.xml" Id="R1269a805939442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1AA4D4-A650-4606-B65B-CB11CBA6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ETF Momentum Research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BFA801-6F27-4C7B-BC09-45B46D7D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A reproducible, long-only test of 12–1 ETF momentum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6EA13-B644-465C-90A6-CB90644B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0">
            <a:solidFill>
              <a:srgbClr val="193D6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BD025-4E75-401C-B839-AC030550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MYQUANT  |  Oxford Quant-First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C8F78-69E7-4775-AADD-F14D2654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1 /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99268-367E-4B9F-84A5-67A8755D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10001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Does volatility scaling and an SPY 200-day regime filter improve the risk-adjusted performance of monthly ETF momentum after realistic transaction costs?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2597F-E736-4F8C-A64D-96A14083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0000"/>
            <a:ext cx="1000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B9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C89D7-27E4-45D8-B369-EFE77D15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6240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24 liquid ETFs  |  2011–2018 research  |  2019–31 Aug 2026 out-of-sample  |  10 bps one-way costs</a:t>
            </a:r>
          </a:p>
        </p:txBody>
      </p:sp>
    </p:spTree>
    <p:extLst>
      <p:ext uri="{BB962C8B-B14F-4D97-AF65-F5344CB8AC3E}">
        <p14:creationId xmlns:p14="http://schemas.microsoft.com/office/powerpoint/2010/main" val="2051580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68EE5F-E394-4E74-8D03-11931CF3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Research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5E3DE-4A69-4B46-949B-00264F83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A fixed design stated before reading the out-of-sample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8256C-D8FB-4B36-81A1-78B40317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0">
            <a:solidFill>
              <a:srgbClr val="193D6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86188-A0BB-49F6-86E8-A03183C0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MYQUANT  |  Oxford Quant-First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0015F-C449-43A0-854F-992E7449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2 /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C5F20-5CFC-49A4-B47D-DBF38447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B9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92D0D-9B27-4D08-B1B1-CC60BB11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145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Universe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D04796-7226-4252-83B4-8EEA711B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24 US-listed ETFs across equities, rates, credit, commodities, FX and sectors.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EF68E-9038-45F3-9478-409ABEF8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62125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B9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A53CF4-4187-47F9-A8F0-4775E03C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145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D2B6BF-466E-4485-9B1B-9CBC2829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479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Prior 252-to-21 trading-day return. The most recent month is excluded.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EC8905-D64A-4F26-A271-19F7483C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B9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43083B-EAF4-4A58-976A-94C50645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145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A5BB5-3564-4800-AB4C-A4A4AA06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Monthly rebalance; signal becomes active on the following trading day; 10 bps × one-way turnover.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9EB2FF-0E0F-4ABA-9757-F7885EE6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62450"/>
            <a:ext cx="10191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Benchmark: equal-weight available ETFs.</a:t>
            </a:r>
          </a:p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Active variants: top-six equal weight, inverse volatility, and inverse volatility with SPY filter.</a:t>
            </a:r>
          </a:p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Filter holds cash below the SPY 200-day moving average.</a:t>
            </a:r>
          </a:p>
        </p:txBody>
      </p:sp>
    </p:spTree>
    <p:extLst>
      <p:ext uri="{BB962C8B-B14F-4D97-AF65-F5344CB8AC3E}">
        <p14:creationId xmlns:p14="http://schemas.microsoft.com/office/powerpoint/2010/main" val="9002084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0620BF-5EE8-411E-9D74-B8FAD322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Bias controls and what remains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40E2A4-F9DB-424D-9302-8CB35238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A backtest is evidence only if its assumptions are made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0A654-DFD2-4F66-8EFE-046A003C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0">
            <a:solidFill>
              <a:srgbClr val="193D6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98479-77F7-45C3-8C00-FF969C6F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MYQUANT  |  Oxford Quant-First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93C29-CE47-4298-AB39-541C7D9E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3 /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A1912-B326-4B3E-8DAF-2E8D6D45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Research period and out-of-sample period are separated.</a:t>
            </a:r>
          </a:p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Weights are shifted by one trading day to avoid same-day signal execution.</a:t>
            </a:r>
          </a:p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Turnover is recorded; costs are charged only when the portfolio changes.</a:t>
            </a:r>
          </a:p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Raw prices are cached, weights and daily wealth paths are written to CSV.</a:t>
            </a:r>
          </a:p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Remaining limitations: selected ETF universe, adjusted-close vendor conventions, stylised execution, no tax, impact or capacity model.</a:t>
            </a:r>
          </a:p>
        </p:txBody>
      </p:sp>
    </p:spTree>
    <p:extLst>
      <p:ext uri="{BB962C8B-B14F-4D97-AF65-F5344CB8AC3E}">
        <p14:creationId xmlns:p14="http://schemas.microsoft.com/office/powerpoint/2010/main" val="1922371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EB221CE-D818-43A7-8548-997B69A5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Research-period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F0E56-8301-4481-9E31-9F490C6B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2011–2018; annualised values after 10 bps one-way transaction costs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9E571-4CF0-47B9-81AE-B6B0A1BA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0">
            <a:solidFill>
              <a:srgbClr val="193D6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8862B-F30F-461E-915B-D41B3465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MYQUANT  |  Oxford Quant-First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2D6EA-F5FF-46CA-BAFC-B91731E4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4 /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36787-8BBD-4FAE-A688-144F7A89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89D9B-2A77-48B4-A62E-F5438FCC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78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Strategy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172C1-B818-49A1-9FFD-987240BF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52625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D417B0-96F7-44BC-A9CC-70BDDB01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0478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CAGR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AC618-E3C0-4F76-B3F3-B85168A6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5262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79F1FB-E92B-4F1A-AB6F-001391EC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478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3EA5CF-9A04-48C1-AB14-7FB8B845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5262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EFC44D-35FD-4ED3-89C7-21044512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478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Sharpe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7CDB32-1825-4052-B684-5CFF3378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52625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27129C-9740-445B-B288-99FA7B6D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478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Max DD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6D9C14-DB70-482F-A15C-F79BB0AE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66CA1F-D274-40C4-B8E3-1B2979AD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47875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Turnover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6FF239-48F4-4DDE-B3C1-8870D034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5267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E19B17-CA42-46DD-86A6-BE2B5836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479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Equal weight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101D78-0DEC-47D8-BE63-2EAA3928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52675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37C130-F240-4187-A4A8-9B852802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44792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5.4%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7E646B-4840-4DA7-9E49-DC0622DA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5267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B39D2C-B7DB-4DEE-9956-99DE855E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479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9.9%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A84310-F6D0-4454-9C6D-6B375E94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5267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6698E0-9507-4241-AA62-606F38D8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479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0.58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91AB6D-4616-4BFE-A8B2-7667FCF8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52675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4C3FAC-406A-4755-A2DD-31949109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479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-14.8%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D62BD0-8438-4611-BDD5-DF665FF3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5267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B5A365-DB81-4D9A-828F-E7C6D84F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4792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0.1x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AEF83C-9A10-4593-A4DA-C1D3FE75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5272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927738-B94D-4984-BF20-9E6107AD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479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12–1 momentum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02FD18-BBE7-490D-B370-42550D88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52725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0B1A89-E597-4E21-B2B0-BAFB2654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479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6.2%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044E15-CB26-44BB-A071-F314BC88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5272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148264-6C4B-4A51-A347-E45E308C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479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11.5%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4A129A-A11E-4281-A733-42F9A951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5272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E877A4-CBB1-41E4-AA9B-88ACB49B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479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0.58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955016-424C-4BAE-9B1A-6EBE1900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52725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54F2E4-D9A7-4549-93E1-038A586A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479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-23.8%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70BE50-113A-4A58-BE61-BB922406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5272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ACD03D-6BB1-4202-A108-6EDBDF0A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4797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4.6x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7871C6-C4C5-419C-AB63-05254120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5277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5B90E6-6F30-4DF8-ABAB-828A0720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480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Momentum inverse vol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15BBF00-9588-47F7-B450-8B994DF7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52775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C8879C-C19B-46CB-A9E5-2EBE6A6A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4802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6.6%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97E9F9E-E5DC-4A1C-B014-B426EFA1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5277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DF4717E-7819-4A03-BD27-A62E3624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480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10.9%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C486DD2-7192-4743-995D-19F224CB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5277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A7A1802-DE4A-4A39-B8C9-8DD4CE2A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480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0.64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6F6846B-2FDE-47ED-8810-10B58424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52775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018488-73C9-4841-A7D2-1C9F1EC5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480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-19.5%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EDA047A-80EE-4C73-9380-C06A81C4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5277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72D101E-4151-470E-A48D-C6ED0BD8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4802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5.7x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D23A14-8E94-450A-BC35-DFBA09A7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5282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CC9CCFE-6A9E-401E-B599-75A0D5BD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480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Momentum regime filter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F9F7BE3-1CBD-4B10-8F3F-9E53E331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52825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3D20F36-8AE2-41B8-A61E-EE52D78F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6480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7.0%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447204A-8ACD-49BB-99B8-8734DA49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5282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B20910A-BEB1-4738-8EF4-F583DC68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480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10.2%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49E1E5C-BBDB-419E-B27F-E6241BB1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5282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1AE41F8-E590-4804-AAE0-029F58CD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480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0.71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FA16D66-A589-4F7F-B435-696AA953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52825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21772CE-AB92-4F5C-97F0-3487748D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480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-18.2%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7EF1FAD-99FF-425F-A28A-7AE3BB10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5282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463BF79-6889-4E32-B7F1-3847144D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4807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5.5x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4D4A6E7-3BB8-4A23-9B42-01D8D4AE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29125"/>
            <a:ext cx="1000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In the research period, the regime-filtered variant had the highest reported Sharpe. This is a hypothesis for testing—not a conclusion to market.</a:t>
            </a:r>
          </a:p>
        </p:txBody>
      </p:sp>
    </p:spTree>
    <p:extLst>
      <p:ext uri="{BB962C8B-B14F-4D97-AF65-F5344CB8AC3E}">
        <p14:creationId xmlns:p14="http://schemas.microsoft.com/office/powerpoint/2010/main" val="21238764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0907203-369E-4937-B76B-CB721CC1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Out-of-sample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C480C-5687-4372-90B1-2207DB93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2019–31 August 2026; the result changed the narrative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A2E16-0239-4A6E-8CDB-F908118B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0">
            <a:solidFill>
              <a:srgbClr val="193D6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C7B70-3767-45AB-B971-3BA91FA2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MYQUANT  |  Oxford Quant-First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24F28-1FBB-4665-A075-56CD1BB4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5 /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CB360-2425-4184-B7AB-F795B3D3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09952-A7EF-440E-9AF7-B770B8F4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78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Strategy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42033-25F6-4334-8BA7-BDE8FC56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52625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3C618-D855-49EB-BAD2-2A24F5DE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0478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CAGR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ABF4C2-7768-4356-AC26-564CCE3F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5262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77501-0116-43D6-8ED0-F94B68FD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478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E507F-4FC3-4A64-9617-10D02831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5262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2BA674-CCDC-4D3F-8B1B-0D7C9C28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478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Sharpe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788242-5D89-4F14-8159-F9A4EC63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52625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0AC1BF-9936-4F1E-AD7A-E524F52E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478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Max DD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F2BFA7-19C3-4583-B941-E9790A7E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62645E-7EF2-46BB-80A0-54B90E45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47875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Turnover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CA65BB-EE30-4EA5-8F9F-938026D2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5267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9B52E5-0D59-4533-8A37-F1F9F7F4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479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Equal weight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524F13-FAB8-44F0-851C-64023049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52675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3E2A6B-FF38-41AF-B57A-50808205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44792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12.9%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A23429-7441-414D-ABF3-B4923CB4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5267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4003FB-34C1-45B7-A16D-B602C2F5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479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12.8%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D74AAA-D345-4F2C-87B6-94091323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5267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4ED82E-FB8B-46EC-AEC6-DF2FB4BA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479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1.01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6CAFE9-226F-4F21-9762-22784E39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52675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D04E91-BBD6-435A-BCFA-00619424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479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-26.9%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BEC1A2-8016-4F53-9273-43EB7E99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5267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C4C999-0EBE-41BD-97D8-D140FFF0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4792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0.0x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EC220C-B814-4CE4-8E63-8970E905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5272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8507E7-4084-45AC-8FEA-31A789A5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479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12–1 momentum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5B5CDA-C732-46AF-B30E-E57BA0A0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52725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B90C2B-7131-4904-AE73-A0BF923C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479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17.6%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2A1505-4885-4547-82AA-7FC07EFB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5272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ACE091-ECD9-4AEB-8329-6BB4F7CC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479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17.2%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9B7F84-4B33-443C-9C5B-CD47E110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5272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987E40-6D8E-4ED8-A974-03D45E73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479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1.03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E9088E-C213-4EA1-A216-8F6B3AF3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52725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83776E-6DAD-4289-BDD3-921C1A90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479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-24.5%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6312E8-3AA4-459E-B0E1-15837C75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5272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932BB9-72C0-421C-942A-48906F32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4797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5.1x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E866EB-1B44-4EE5-A053-AF24362E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5277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653C4A-A3C5-494C-9EDE-B31C41B3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480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Momentum inverse vol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111001-808B-48F6-A1FC-CFB9DBFC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52775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AFD30D-2FA8-4E1E-BA1F-A48C466A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4802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15.5%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C347F4-16A8-40AE-A6E1-644A14AD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5277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998FEC5-C35B-4BCA-B131-B6B9C2BA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480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15.0%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13AF30-A231-4D02-A2B7-9FCC3777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5277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831297-19D9-4335-A2C6-D533229A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480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1.04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97D1B30-ED9A-4D22-B59F-119DDDDE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52775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14A7D5F-D848-4394-920E-823F6663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480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-23.2%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70686A2-F2E0-4701-A307-593B38CC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5277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E4864A5-BA93-4F0B-83DE-BDC14899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4802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7.2x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BAEF866-A1A3-440E-AF22-0301CD13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5282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157D71F-7D75-4FCA-A648-2A44C1C1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480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Momentum regime filter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0BD51D3-1967-4E9E-8CB9-9A8670EA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52825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41D62AC-1374-4BCB-A184-A6DA3463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6480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8.3%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A5CF9C0-86D8-446F-9ABB-0968B3BE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5282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912A5E5-F45E-4415-9CDB-196E26EA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480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12.2%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E1825E2-ACE5-4D5C-9D1D-F2F49684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5282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B0332E4-5A3C-4B03-8B75-13ED148B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480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0.71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F8773D3-98AA-4E71-A336-025095C9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52825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3A50C82-55A7-44EB-98B1-10EE73A9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480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-17.9%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6BD5822-9445-423F-A2AB-16CE55A2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5282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62DDA45-5E96-44AD-B100-79C8BF3A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4807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6.9x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553379E-99F5-44E6-95A3-5D123598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29125"/>
            <a:ext cx="1000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Inverse-volatility momentum produced the highest out-of-sample Sharpe in this fixed run. The filter reduced volatility and drawdown, but also lowered CAGR.</a:t>
            </a:r>
          </a:p>
        </p:txBody>
      </p:sp>
    </p:spTree>
    <p:extLst>
      <p:ext uri="{BB962C8B-B14F-4D97-AF65-F5344CB8AC3E}">
        <p14:creationId xmlns:p14="http://schemas.microsoft.com/office/powerpoint/2010/main" val="15800551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713C7B-AF9E-4B55-A7FA-056FEE39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What the evidence supports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3586F-C8FB-4A74-9AAD-F3D35247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The conclusion is narrower than the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3CF13-CA2F-44F6-BBE9-2A327250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0">
            <a:solidFill>
              <a:srgbClr val="193D6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603C1-0F3D-4DC6-9983-771FECE4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MYQUANT  |  Oxford Quant-First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6F2BB-C2E8-4C1A-BE8E-792B4A63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6 /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D9816A-FB30-432A-9CDD-E4A8071A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B9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B5A18-38BA-4C4D-AE46-F3BF794C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0977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Supported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BB2F1-7C81-44A4-94AF-C475AC39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14625"/>
            <a:ext cx="4572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The tested inverse-volatility implementation improved out-of-sample Sharpe versus the other tested variants.</a:t>
            </a:r>
          </a:p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The regime filter traded return for lower realised risk in this sample.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91DDE-CD88-45A9-BA35-3C82F1F8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57375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B9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4D9794-FD91-41CB-B1F7-CFE07742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977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Not supported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52AA48-18D4-4756-AB68-E367F592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14625"/>
            <a:ext cx="4572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A claim that the regime filter is generally superior.</a:t>
            </a:r>
          </a:p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A claim of a deployable alpha after market impact, capacity or alternative-universe tests.</a:t>
            </a:r>
          </a:p>
        </p:txBody>
      </p:sp>
    </p:spTree>
    <p:extLst>
      <p:ext uri="{BB962C8B-B14F-4D97-AF65-F5344CB8AC3E}">
        <p14:creationId xmlns:p14="http://schemas.microsoft.com/office/powerpoint/2010/main" val="305464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1BBE7-933B-475F-A84C-84C9643B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Next tests before stronger claims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914451-DCF6-4DB3-9FAF-92EF5C64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The research agenda matters more than pretending the first model is finished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07E00-4C80-4F4B-B030-20A0D04B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0">
            <a:solidFill>
              <a:srgbClr val="193D6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69778-BAB7-4C2D-9488-0BEE0520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MYQUANT  |  Oxford Quant-First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89F35-C7FE-4B05-B7B7-0B929153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7 /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CDA06-6790-4C31-9943-0A07B042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Vary lookback, skip-month, number of holdings and rebalance frequency without tuning on the out-of-sample window.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Test point-in-time or alternative ETF universes; inspect delisted / unavailable instruments where possible.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Add cash yield, impact and liquidity proxies; test sensitivity to cost assumptions.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Decompose returns by asset class, crisis periods and rate regimes.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Use walk-forward evaluation and record every model choice.</a:t>
            </a:r>
          </a:p>
        </p:txBody>
      </p:sp>
    </p:spTree>
    <p:extLst>
      <p:ext uri="{BB962C8B-B14F-4D97-AF65-F5344CB8AC3E}">
        <p14:creationId xmlns:p14="http://schemas.microsoft.com/office/powerpoint/2010/main" val="2801112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4315A-8A11-44BD-8FBF-53A64EDF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Reproducibility and interview 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72882-D81E-4465-81F7-58B077DE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A portfolio project should be inspectable, not just persuasive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26D35B-E0DB-4D51-A070-F7D8F622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0">
            <a:solidFill>
              <a:srgbClr val="193D6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803CB-E786-401E-81C2-5E7BBC85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MYQUANT  |  Oxford Quant-First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725328-6519-4E02-8858-FDC7B578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8 /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A1CC2-97C9-4842-A5F7-5C31591F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0287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B9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064E5-4C62-4720-A507-A7308CF2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62150"/>
            <a:ext cx="990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Repository deliverables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363D3-6B85-4428-ACF4-1EA5FAAE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52725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Cached raw data  •  source code  •  unit tests  •  weights  •  metrics  •  research report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D8724-43F9-41C8-A444-25BD26E4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67125"/>
            <a:ext cx="9525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Explain the timing convention and the five largest sources of bias.</a:t>
            </a:r>
          </a:p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Defend the choice of ETF universe and cost assumption.</a:t>
            </a:r>
          </a:p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Describe why the out-of-sample result changed the narrative.</a:t>
            </a:r>
          </a:p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State the next test that could disconfirm the idea.</a:t>
            </a:r>
          </a:p>
        </p:txBody>
      </p:sp>
    </p:spTree>
    <p:extLst>
      <p:ext uri="{BB962C8B-B14F-4D97-AF65-F5344CB8AC3E}">
        <p14:creationId xmlns:p14="http://schemas.microsoft.com/office/powerpoint/2010/main" val="19875253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2026-09-12T10:35:50.1150000Z</dcterms:created>
  <dcterms:modified xsi:type="dcterms:W3CDTF">2026-09-12T10:35:50.1150000Z</dcterms:modified>
</coreProperties>
</file>