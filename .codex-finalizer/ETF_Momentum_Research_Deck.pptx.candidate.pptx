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a01ebcbaf440fc" /><Relationship Type="http://schemas.openxmlformats.org/officeDocument/2006/relationships/extended-properties" Target="/docProps/app.xml" Id="Re4122a3881024791" /><Relationship Type="http://schemas.openxmlformats.org/officeDocument/2006/relationships/officeDocument" Target="/ppt/presentation.xml" Id="Rfffcdcd197ad4a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c08646c808415a"/>
  </p:sldMasterIdLst>
  <p:notesMasterIdLst>
    <p:notesMasterId xmlns:r="http://schemas.openxmlformats.org/officeDocument/2006/relationships" r:id="Rd4530e93f750429a"/>
  </p:notesMasterIdLst>
  <p:sldIdLst>
    <p:sldId xmlns:r="http://schemas.openxmlformats.org/officeDocument/2006/relationships" id="256" r:id="R72b47df9db274818"/>
    <p:sldId xmlns:r="http://schemas.openxmlformats.org/officeDocument/2006/relationships" id="257" r:id="R01599b1b2b9e4752"/>
    <p:sldId xmlns:r="http://schemas.openxmlformats.org/officeDocument/2006/relationships" id="258" r:id="R6e4f968783e14945"/>
    <p:sldId xmlns:r="http://schemas.openxmlformats.org/officeDocument/2006/relationships" id="259" r:id="R383b7aa774b14a9c"/>
    <p:sldId xmlns:r="http://schemas.openxmlformats.org/officeDocument/2006/relationships" id="260" r:id="R6da68825c67b4c98"/>
    <p:sldId xmlns:r="http://schemas.openxmlformats.org/officeDocument/2006/relationships" id="261" r:id="R62e49300218040e4"/>
    <p:sldId xmlns:r="http://schemas.openxmlformats.org/officeDocument/2006/relationships" id="262" r:id="R370fe1504b0c4a23"/>
    <p:sldId xmlns:r="http://schemas.openxmlformats.org/officeDocument/2006/relationships" id="263" r:id="R4a12b590f3e24d6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8f4151167df4a6d" /><Relationship Type="http://schemas.openxmlformats.org/officeDocument/2006/relationships/slideMaster" Target="/ppt/slideMasters/slideMaster1.xml" Id="R3ac08646c808415a" /><Relationship Type="http://schemas.openxmlformats.org/officeDocument/2006/relationships/notesMaster" Target="/ppt/notesMasters/notesMaster1.xml" Id="Rd4530e93f750429a" /><Relationship Type="http://schemas.openxmlformats.org/officeDocument/2006/relationships/presProps" Target="/ppt/presProps.xml" Id="R6e28253508f74980" /><Relationship Type="http://schemas.openxmlformats.org/officeDocument/2006/relationships/tableStyles" Target="/ppt/tableStyles.xml" Id="Rffaef2f185884293" /><Relationship Type="http://schemas.openxmlformats.org/officeDocument/2006/relationships/slide" Target="/ppt/slides/slide1.xml" Id="R72b47df9db274818" /><Relationship Type="http://schemas.openxmlformats.org/officeDocument/2006/relationships/slide" Target="/ppt/slides/slide2.xml" Id="R01599b1b2b9e4752" /><Relationship Type="http://schemas.openxmlformats.org/officeDocument/2006/relationships/slide" Target="/ppt/slides/slide3.xml" Id="R6e4f968783e14945" /><Relationship Type="http://schemas.openxmlformats.org/officeDocument/2006/relationships/slide" Target="/ppt/slides/slide4.xml" Id="R383b7aa774b14a9c" /><Relationship Type="http://schemas.openxmlformats.org/officeDocument/2006/relationships/slide" Target="/ppt/slides/slide5.xml" Id="R6da68825c67b4c98" /><Relationship Type="http://schemas.openxmlformats.org/officeDocument/2006/relationships/slide" Target="/ppt/slides/slide6.xml" Id="R62e49300218040e4" /><Relationship Type="http://schemas.openxmlformats.org/officeDocument/2006/relationships/slide" Target="/ppt/slides/slide7.xml" Id="R370fe1504b0c4a23" /><Relationship Type="http://schemas.openxmlformats.org/officeDocument/2006/relationships/slide" Target="/ppt/slides/slide8.xml" Id="R4a12b590f3e24d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c891a866ae4f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d07783545441f6" /><Relationship Type="http://schemas.openxmlformats.org/officeDocument/2006/relationships/notesMaster" Target="/ppt/notesMasters/notesMaster1.xml" Id="R27bdb297488147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c0016c514c450c" /><Relationship Type="http://schemas.openxmlformats.org/officeDocument/2006/relationships/notesMaster" Target="/ppt/notesMasters/notesMaster1.xml" Id="R18cc3932a54c416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2a8f685eea45be" /><Relationship Type="http://schemas.openxmlformats.org/officeDocument/2006/relationships/notesMaster" Target="/ppt/notesMasters/notesMaster1.xml" Id="R2d68e98fb2dc468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a320698d0de40a2" /><Relationship Type="http://schemas.openxmlformats.org/officeDocument/2006/relationships/notesMaster" Target="/ppt/notesMasters/notesMaster1.xml" Id="R46480254fa55437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2241e93bd1d4efb" /><Relationship Type="http://schemas.openxmlformats.org/officeDocument/2006/relationships/notesMaster" Target="/ppt/notesMasters/notesMaster1.xml" Id="Rbb378c71bd2f4e5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88fb90d0432440c" /><Relationship Type="http://schemas.openxmlformats.org/officeDocument/2006/relationships/notesMaster" Target="/ppt/notesMasters/notesMaster1.xml" Id="R3cdc10b6f6e84c5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e8666a37014467b" /><Relationship Type="http://schemas.openxmlformats.org/officeDocument/2006/relationships/notesMaster" Target="/ppt/notesMasters/notesMaster1.xml" Id="Rdbf4ea7a99e7469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29380fe6f414906" /><Relationship Type="http://schemas.openxmlformats.org/officeDocument/2006/relationships/notesMaster" Target="/ppt/notesMasters/notesMaster1.xml" Id="Rf11a0a9f766f42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MyQuant reproducible research code and cached Yahoo Finance adjusted-close data. Educational research, not investment advice.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MyQuant momentum_research/src/strategy.py. Methodology was designed for transparent interview discussion.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MyQuant unit tests and README. Limitations are deliberate, not hidden.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momentum_research/data/results/metrics.csv, generated 12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momentum_research/data/results/metrics.csv, generated 12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Interpretation based on results and declared limitations in MyQuant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next steps; no external factual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MyQuant repository. Educational research, not investment advice.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7ce5de59834e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a9cb1cee40437f" /><Relationship Type="http://schemas.openxmlformats.org/officeDocument/2006/relationships/slideLayout" Target="/ppt/slideLayouts/slideLayout1.xml" Id="R298a4bcf13e14e7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8a4bcf13e14e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d8860d8a354fdf" /><Relationship Type="http://schemas.openxmlformats.org/officeDocument/2006/relationships/notesSlide" Target="/ppt/notesSlides/notesSlide1.xml" Id="R61f1a1caf5044f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1f494ca6e64721" /><Relationship Type="http://schemas.openxmlformats.org/officeDocument/2006/relationships/notesSlide" Target="/ppt/notesSlides/notesSlide2.xml" Id="R602745562a8442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b6b1036a754d80" /><Relationship Type="http://schemas.openxmlformats.org/officeDocument/2006/relationships/notesSlide" Target="/ppt/notesSlides/notesSlide3.xml" Id="R73c509b7c32842c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c3106680304673" /><Relationship Type="http://schemas.openxmlformats.org/officeDocument/2006/relationships/notesSlide" Target="/ppt/notesSlides/notesSlide4.xml" Id="Rebcfc6632f844a3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60e74c13744ea7" /><Relationship Type="http://schemas.openxmlformats.org/officeDocument/2006/relationships/notesSlide" Target="/ppt/notesSlides/notesSlide5.xml" Id="R71234d0acb8b46a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fd158c6c0d4efb" /><Relationship Type="http://schemas.openxmlformats.org/officeDocument/2006/relationships/notesSlide" Target="/ppt/notesSlides/notesSlide6.xml" Id="R4fd94ed4b5ce479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c63a56a1ee44f5" /><Relationship Type="http://schemas.openxmlformats.org/officeDocument/2006/relationships/notesSlide" Target="/ppt/notesSlides/notesSlide7.xml" Id="R8191a74afcbd455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b9cebf5ed54efe" /><Relationship Type="http://schemas.openxmlformats.org/officeDocument/2006/relationships/notesSlide" Target="/ppt/notesSlides/notesSlide8.xml" Id="Rd399258fb54a49b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5079D0-7521-400E-9724-A309AE206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ETF Momentum Research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3B4CA6-F935-4A79-83FE-2C3F5C5E9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923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rPr>
              <a:t>A reproducible, long-only test of 12–1 ETF momentum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99840A-3EF5-4715-AF32-0D65DB7E8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D62"/>
          </a:solidFill>
          <a:ln xmlns:a="http://schemas.openxmlformats.org/drawingml/2006/main" w="0">
            <a:solidFill>
              <a:srgbClr val="193D6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C7E921-9DB7-47F9-9ADC-34619694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rPr>
              <a:t>MYQUANT  |  Oxford Quant-First portfolio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85D905-8E49-4D1B-9278-62B73B370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rPr>
              <a:t>1 / 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6166DA-F4FC-4EED-9400-FEE25C46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10001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Does volatility scaling and an SPY 200-day regime filter improve the risk-adjusted performance of monthly ETF momentum after realistic transaction costs?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017908-88CC-4EFD-AC52-078E5E8D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10000"/>
            <a:ext cx="10001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2F6B9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DAA398-2491-443A-A9E4-501624BB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962400"/>
            <a:ext cx="962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24 liquid ETFs  |  2011–2018 research  |  2019–31 Aug 2026 out-of-sample  |  10 bps one-way costs</a:t>
            </a:r>
          </a:p>
        </p:txBody>
      </p:sp>
    </p:spTree>
    <p:extLst>
      <p:ext uri="{BB962C8B-B14F-4D97-AF65-F5344CB8AC3E}">
        <p14:creationId xmlns:p14="http://schemas.microsoft.com/office/powerpoint/2010/main" val="13951606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AF9291-362C-43D2-86F8-51573AED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Research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866D61-3C8D-4DB9-B895-102B9589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923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rPr>
              <a:t>A fixed design stated before reading the out-of-sample 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D28EE3-66C3-4B24-96AA-87336643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D62"/>
          </a:solidFill>
          <a:ln xmlns:a="http://schemas.openxmlformats.org/drawingml/2006/main" w="0">
            <a:solidFill>
              <a:srgbClr val="193D6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F7420D-8FE8-40D3-A3C5-84C87EAA6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rPr>
              <a:t>MYQUANT  |  Oxford Quant-First portfolio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ECFD34-C96A-4E42-8EBC-19E8DCD4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rPr>
              <a:t>2 / 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2E77AE-1A43-4603-BA07-CDECB82F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2F6B9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A8F3A4-2546-457E-9288-0735BC8D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1452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Universe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CEDA7B-1368-46C0-9005-CDEA725F3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24 US-listed ETFs across equities, rates, credit, commodities, FX and sectors.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CDBF05-A929-4F7C-89E5-D9225F7C8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62125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2F6B9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44777F-0028-4AD4-84D0-B0A80A40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91452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Signal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201897-B93A-49B3-A8F1-65EE45FF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64795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Prior 252-to-21 trading-day return. The most recent month is excluded.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69B014-4B80-462E-8ED9-D34FCA2D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62125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2F6B9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853CA1-F6F6-4A0A-A86E-8183C97CF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1452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Execution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3307B6-EB31-493A-9AFF-423F9FCA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4795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Monthly rebalance; signal becomes active on the following trading day; 10 bps × one-way turnover.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BC71D7-94FE-41A9-9625-3F600BD69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62450"/>
            <a:ext cx="101917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• Benchmark: equal-weight available ETFs.</a:t>
            </a:r>
          </a:p>
          <a:p xmlns:a="http://schemas.openxmlformats.org/drawingml/2006/main">
            <a:pPr>
              <a:defRPr sz="12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• Active variants: top-six equal weight, inverse volatility, and inverse volatility with SPY filter.</a:t>
            </a:r>
          </a:p>
          <a:p xmlns:a="http://schemas.openxmlformats.org/drawingml/2006/main">
            <a:pPr>
              <a:defRPr sz="12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• Filter holds cash below the SPY 200-day moving average.</a:t>
            </a:r>
          </a:p>
        </p:txBody>
      </p:sp>
    </p:spTree>
    <p:extLst>
      <p:ext uri="{BB962C8B-B14F-4D97-AF65-F5344CB8AC3E}">
        <p14:creationId xmlns:p14="http://schemas.microsoft.com/office/powerpoint/2010/main" val="1220916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DFF43D-ABF3-4C4E-9452-079EF79CF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Bias controls and what remains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836011-63C0-42EB-85B4-0108E1F8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923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rPr>
              <a:t>A backtest is evidence only if its assumptions are made visible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4FF904-F80A-42EA-883F-C884A4FCD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D62"/>
          </a:solidFill>
          <a:ln xmlns:a="http://schemas.openxmlformats.org/drawingml/2006/main" w="0">
            <a:solidFill>
              <a:srgbClr val="193D6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018E93-7639-411F-A6F4-B2EA1CB2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rPr>
              <a:t>MYQUANT  |  Oxford Quant-First portfolio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662C7F-8030-4F1B-985B-C90BAD1C3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rPr>
              <a:t>3 / 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B12591-C228-4B55-BB16-89508A2F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62125"/>
            <a:ext cx="102870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• Research period and out-of-sample period are separated.</a:t>
            </a:r>
          </a:p>
          <a:p xmlns:a="http://schemas.openxmlformats.org/drawingml/2006/main">
            <a:pPr>
              <a:def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• Weights are shifted by one trading day to avoid same-day signal execution.</a:t>
            </a:r>
          </a:p>
          <a:p xmlns:a="http://schemas.openxmlformats.org/drawingml/2006/main">
            <a:pPr>
              <a:def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• Turnover is recorded; costs are charged only when the portfolio changes.</a:t>
            </a:r>
          </a:p>
          <a:p xmlns:a="http://schemas.openxmlformats.org/drawingml/2006/main">
            <a:pPr>
              <a:def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• Raw prices are cached, weights and daily wealth paths are written to CSV.</a:t>
            </a:r>
          </a:p>
          <a:p xmlns:a="http://schemas.openxmlformats.org/drawingml/2006/main">
            <a:pPr>
              <a:def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• Remaining limitations: selected ETF universe, adjusted-close vendor conventions, stylised execution, no tax, impact or capacity model.</a:t>
            </a:r>
          </a:p>
        </p:txBody>
      </p:sp>
    </p:spTree>
    <p:extLst>
      <p:ext uri="{BB962C8B-B14F-4D97-AF65-F5344CB8AC3E}">
        <p14:creationId xmlns:p14="http://schemas.microsoft.com/office/powerpoint/2010/main" val="1809845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7A54F2C-9BC3-405A-8C35-8D72E514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Research-period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F74762-3D92-482F-9479-68A230D7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923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rPr>
              <a:t>2011–2018; annualised values after 10 bps one-way transaction costs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2EE7FD-7F07-4EB8-8FA7-0FDA439FC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D62"/>
          </a:solidFill>
          <a:ln xmlns:a="http://schemas.openxmlformats.org/drawingml/2006/main" w="0">
            <a:solidFill>
              <a:srgbClr val="193D6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843889-FA38-41B1-B9D3-7F7CC466F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rPr>
              <a:t>MYQUANT  |  Oxford Quant-First portfolio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3B93A8-3371-47FE-8F8F-C50260F7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rPr>
              <a:t>4 / 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201FD9-A08A-45CC-8183-A972648F0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52625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D62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0EF550-8C6A-4F06-B05F-8FF05FC8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478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Strategy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C68145-4279-4247-B0DF-C4259F59A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952625"/>
            <a:ext cx="1190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D62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BD346F-5E0D-49F3-8838-8665B07A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0478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CAGR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02BB2F-8D6B-48BC-BC83-8A80E094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52625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D62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709D03-5BCA-4C76-9B0D-37A89D8D7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478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F603F9-3D0B-4239-B17D-B2362F67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52625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D62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E08426-3C58-47AF-88EB-E7298C74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478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Sharpe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BBD3B9-00D7-42A5-A8B5-9E98B71FA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52625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D62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08CF89-6F99-4F87-90F8-0338962D8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478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Max DD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795619-253C-4C4B-98EA-652C5484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52625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D62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FE1AF2-C101-4A6D-9D53-F23B5D62E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47875"/>
            <a:ext cx="1190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Turnover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6A0609-D8B4-4B91-BF79-C5F5083D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52675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DE3116-21B5-46D7-AE2B-9AF132973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4792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Equal weight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08BDDA-02AA-4F23-94A6-48CE7454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52675"/>
            <a:ext cx="1190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15F435-89C6-42FB-9871-DD3129F7A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447925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5.4%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AAF0CA-E057-46DA-B66A-8E2DD9C9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52675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91F9B2-6DB8-425A-A34B-F6377F73B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479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9.9%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53D1ED-BBC3-435C-A838-23590515D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52675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7D96CF-EFCB-4DBE-BCCB-6CFD19B2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479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0.58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61BAF7-DF8D-4B62-BD61-8F048B73A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52675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C668C8-9E1B-42EC-8335-9E24A29E8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4792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-14.8%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4931C0-853A-48D3-B589-3253FAB54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52675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39518F-F028-4554-84C7-91B232A4E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47925"/>
            <a:ext cx="1190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0.1x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021B8F-2A8B-4FF0-A51B-2747AF64A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52725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37B32C-7091-4B26-A15B-61C82602A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4797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12–1 momentum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EEFCB8-A29E-48DA-B0EC-B70B90BF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752725"/>
            <a:ext cx="1190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5F2A54-F783-4C0C-BB73-2A664A4A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847975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6.2%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26AACCC-5B9D-4D6F-8167-E248BAFC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52725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6F953C-A0AE-4019-9098-6169018F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479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11.5%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0544ADB-8085-43B2-B5A7-7971475D4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52725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66571C9-321B-41B3-AD4C-759F180E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479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0.58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4344B39-193D-4196-853C-8645EB393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52725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6BB47C0-2FFC-406B-BFA7-3EFEF2480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4797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-23.8%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7C81D98-A728-4B31-A973-A9B2FA44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52725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C990A45-D18C-44B4-83B5-3F17242E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47975"/>
            <a:ext cx="1190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4.6x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B950D70-5526-45C3-A400-6BD5D0713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52775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61F4A6A-8CD9-48BC-8582-4A6FC9586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4802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Momentum inverse vol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DD40520-0AB9-41C1-9BC4-886D2885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152775"/>
            <a:ext cx="1190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E05AF28-2D68-4776-9EA9-F1814C92C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248025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6.6%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B2366B4-84A6-4E85-AA1F-20F8C02C5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52775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2322E29-02A2-4136-9BF7-67CAE19ED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480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10.9%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D80ADA8-B320-4912-8593-7A28F116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52775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937877D-C8FD-4585-9482-46995A49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480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0.64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D15085F-2484-468D-AE96-A5C1203D6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52775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901D775-72BF-4EEA-920D-B44ECB22E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4802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-19.5%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4BFE640-3224-4C4A-ADE1-2F29B144E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52775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CC8F2E9-E1A8-4F5E-A53C-6C2DE95CE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48025"/>
            <a:ext cx="1190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5.7x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ECB0287-884E-41AB-B200-C3C67F765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52825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F91480C-1145-439C-AB05-D90BC1D5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4807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Momentum regime filter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8123F7B-D44A-416D-B768-3FC67378C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552825"/>
            <a:ext cx="1190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5A5E75D-7AD9-4C87-9806-F3DE61E9E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648075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7.0%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9E21FDA-81AB-4498-BD7B-D87622DAD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52825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35D6E65-9C99-4219-8B6B-42F43E7D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480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10.2%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AD6306D-3BA9-4A99-8D6A-A727D8B8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52825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D5A2A92-F7AA-4088-A7F8-69E1E7B97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480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0.71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70A6F87-3920-402E-8EAF-8A12F9FF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52825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B8BFA30-2C9B-4919-8F28-77E7965F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4807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-18.2%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895F789-844D-452D-98EC-8F8769E0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52825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DF3FD22-910F-45EA-804F-61E23230B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48075"/>
            <a:ext cx="1190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5.5x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A886BFA-73DF-4E8E-82C3-A57E1F79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29125"/>
            <a:ext cx="1000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In the research period, the regime-filtered variant had the highest reported Sharpe. This is a hypothesis for testing—not a conclusion to market.</a:t>
            </a:r>
          </a:p>
        </p:txBody>
      </p:sp>
    </p:spTree>
    <p:extLst>
      <p:ext uri="{BB962C8B-B14F-4D97-AF65-F5344CB8AC3E}">
        <p14:creationId xmlns:p14="http://schemas.microsoft.com/office/powerpoint/2010/main" val="856353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5B6F092-EABD-489F-8444-AEAB065CD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Out-of-sample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6DE8B9-C709-436E-AB4D-0103F98F6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923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rPr>
              <a:t>2019–31 August 2026; the result changed the narrative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A7D902-A340-43F8-971E-35F0C3B0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D62"/>
          </a:solidFill>
          <a:ln xmlns:a="http://schemas.openxmlformats.org/drawingml/2006/main" w="0">
            <a:solidFill>
              <a:srgbClr val="193D6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252376-DC84-49C4-91D4-12484E4C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rPr>
              <a:t>MYQUANT  |  Oxford Quant-First portfolio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F574CE-2715-4731-9A92-A34E89CF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rPr>
              <a:t>5 / 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41F52E-E5F4-44CE-9273-45BB6FD84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52625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D62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97D4B3-A03E-4B83-9CBD-6764EF78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478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Strategy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C87BD3-59BC-474D-87A5-86684FE3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952625"/>
            <a:ext cx="1190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D62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AF5EAD-36A5-4876-A0EB-9E321A0AD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0478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CAGR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A710AE-37FB-456A-8953-DFC98F962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52625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D62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46221E-7E65-4E82-95DF-0E659F02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478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65E454-50C3-4077-A85B-2934FBCF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52625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D62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B6246D-6F00-4CF9-AACC-B487D6DCA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478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Sharpe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86405D-D0F9-499D-820D-7A333C3B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52625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D62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A9447E-122C-436D-8179-44AAE6B6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478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Max DD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860F3D-D05A-4F01-9606-89B9CC4B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52625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D62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737444-F327-4194-954B-E7796D069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47875"/>
            <a:ext cx="1190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Turnover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E14B79-59AE-4A5E-8C43-33935259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52675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6C4340-8878-4455-9A33-E50109070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4792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Equal weight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C026E3-098C-459B-92CA-ED04843E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52675"/>
            <a:ext cx="1190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AFB633-6D61-488B-9703-4E2CF7E7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447925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12.9%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3C58BA-4A45-48DC-87FF-48F6AD8C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52675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ADB06D-3320-4495-AEC6-5C1768AA3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479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12.8%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5629D9-0A6A-4341-859C-F5F18820E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52675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4D0636-F76D-4E28-9B97-3275915ED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479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1.01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70B8FB-7C28-416D-95FF-5B0D2116E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52675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A2CA92-3CE3-4A5D-852F-B2A15698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4792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-26.9%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2B4D0E-3495-4D7F-977F-4F5861E7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52675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ED4ED5-FB09-4F8E-9EAD-85128976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47925"/>
            <a:ext cx="1190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0.0x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88138C-CD59-46F1-9938-382D36C1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52725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AD1441-378A-4B7C-9E8D-2E4CB808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4797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12–1 momentum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60892D-8C96-4E13-8E49-65D094F4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752725"/>
            <a:ext cx="1190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F67108-BF24-4E00-9F1D-A59FBC550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847975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17.6%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AC8CAE-0679-4DE8-8D05-AD1751659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52725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71DC07E-29B8-456C-A497-F1E39C86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479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17.2%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5E5387E-F258-4932-B1E3-B26BF25DD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52725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BE13631-60AD-45E7-B815-F365B9D09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479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1.03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224082-9E47-4932-A004-EE53B86F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52725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B1BFD3B-2447-47AD-B3F6-9770F5EE0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4797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-24.5%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7A94B96-BB4A-46F0-B4F9-80B29B17B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52725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F998A56-7AF1-412A-B122-F956716B5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47975"/>
            <a:ext cx="1190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5.1x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B872D91-5817-459D-A06E-FD1D165A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52775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7B65727-A34D-4735-B451-FA5090F6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4802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Momentum inverse vol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2ADB434-04EC-4719-BEDB-01BF17492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152775"/>
            <a:ext cx="1190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47C17EC-98A3-4B5F-8632-799E78EC3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248025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15.5%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7D2783D-1858-49F8-8663-23DE768D3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52775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5551127-4BF0-41D9-B21B-651B672B5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480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15.0%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0B317D2-6D57-4433-B029-9DB642FED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52775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285ED2A-7590-4D6E-8A68-44867FDAE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480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1.04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ECBB365-FD8F-42E3-B902-A2D355C6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52775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F47E1C7-C027-4B91-8FA8-309EBD64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4802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-23.2%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2E62CF3-23FD-496F-9171-0A12992F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52775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B00F3DC-3B5A-400A-8DA8-18755DB2E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48025"/>
            <a:ext cx="1190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7.2x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2C65197-060D-43F3-9B4F-5E449557F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52825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DA70322-C49E-4FC4-9E4E-4C1C82580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4807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Momentum regime filter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C90EDC7-7207-4711-B63F-BE4A5B5D4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552825"/>
            <a:ext cx="1190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5A77AE4-37A2-43E7-9B47-00C1E78A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648075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8.3%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93CF33C-90C9-44CA-90D9-C4DC85FE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52825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94DE5EA-5A8A-4D87-87FC-06A8765F9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480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12.2%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025E3D0-C90A-496D-9112-9B942067F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52825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25BD0BD-B6B0-4254-A404-A1C9DA53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480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0.71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34CD82E-0F73-4532-B8DA-3F981531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52825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76ABBF0-1AFC-46E5-9ECA-F0ECEC90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4807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-17.9%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5A4651E-BC2C-41F2-BBA7-961EAA67E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52825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5DCE4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1E284A1-36FC-4F2F-A8B4-0ED00EA1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48075"/>
            <a:ext cx="1190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6.9x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778D2B9-944F-47D4-8FB7-644CD02DD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29125"/>
            <a:ext cx="1000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Inverse-volatility momentum produced the highest out-of-sample Sharpe in this fixed run. The filter reduced volatility and drawdown, but also lowered CAGR.</a:t>
            </a:r>
          </a:p>
        </p:txBody>
      </p:sp>
    </p:spTree>
    <p:extLst>
      <p:ext uri="{BB962C8B-B14F-4D97-AF65-F5344CB8AC3E}">
        <p14:creationId xmlns:p14="http://schemas.microsoft.com/office/powerpoint/2010/main" val="20647528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4800BB-972C-4F0D-947A-73771BD1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What the evidence supports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B7185D-DB66-43B7-A5A0-F7B22C3DF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923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rPr>
              <a:t>The conclusion is narrower than the question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0B8EF3-42CD-4F7A-9234-A6367340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D62"/>
          </a:solidFill>
          <a:ln xmlns:a="http://schemas.openxmlformats.org/drawingml/2006/main" w="0">
            <a:solidFill>
              <a:srgbClr val="193D6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127602-30EB-4D67-8B33-2E2954F2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rPr>
              <a:t>MYQUANT  |  Oxford Quant-First portfolio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527567-7F02-4855-A597-C84E2B89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rPr>
              <a:t>6 / 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830626-93F0-4710-BCCF-C17D4DFB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57375"/>
            <a:ext cx="4572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2F6B9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A9CB4E-0ECE-4FAC-9FD7-BC3AE5C76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009775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Supported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8D88A7-EB4D-4287-8957-9F79FF0D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14625"/>
            <a:ext cx="45720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• The tested inverse-volatility implementation improved out-of-sample Sharpe versus the other tested variants.</a:t>
            </a:r>
          </a:p>
          <a:p xmlns:a="http://schemas.openxmlformats.org/drawingml/2006/main">
            <a:pPr>
              <a:defRPr sz="12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• The regime filter traded return for lower realised risk in this sample.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42AD6C-9B9E-44F9-B077-81359431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57375"/>
            <a:ext cx="4572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2F6B9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8356D6-5BF0-4475-85F2-465E963D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09775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Not supported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D4FF75-EC3F-43CA-AF7C-456B5900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14625"/>
            <a:ext cx="45720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• A claim that the regime filter is generally superior.</a:t>
            </a:r>
          </a:p>
          <a:p xmlns:a="http://schemas.openxmlformats.org/drawingml/2006/main">
            <a:pPr>
              <a:defRPr sz="12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• A claim of a deployable alpha after market impact, capacity or alternative-universe tests.</a:t>
            </a:r>
          </a:p>
        </p:txBody>
      </p:sp>
    </p:spTree>
    <p:extLst>
      <p:ext uri="{BB962C8B-B14F-4D97-AF65-F5344CB8AC3E}">
        <p14:creationId xmlns:p14="http://schemas.microsoft.com/office/powerpoint/2010/main" val="14881329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483BF7-D0F6-4FDC-80EC-A2677DEB6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Next tests before stronger claims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31D806-5022-4115-A229-F279791CB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923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rPr>
              <a:t>The research agenda matters more than pretending the first model is finished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C38E41-8CC7-4E6B-B16B-0CEADE79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D62"/>
          </a:solidFill>
          <a:ln xmlns:a="http://schemas.openxmlformats.org/drawingml/2006/main" w="0">
            <a:solidFill>
              <a:srgbClr val="193D6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7C20FA-57B0-46FC-966A-83DE0114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rPr>
              <a:t>MYQUANT  |  Oxford Quant-First portfolio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700004-4032-47FD-9621-24AFA1F2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rPr>
              <a:t>7 / 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DB881E-1C3D-4C10-85DD-7D30C51A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102870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• Vary lookback, skip-month, number of holdings and rebalance frequency without tuning on the out-of-sample window.</a:t>
            </a:r>
          </a:p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• Test point-in-time or alternative ETF universes; inspect delisted / unavailable instruments where possible.</a:t>
            </a:r>
          </a:p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• Add cash yield, impact and liquidity proxies; test sensitivity to cost assumptions.</a:t>
            </a:r>
          </a:p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• Decompose returns by asset class, crisis periods and rate regimes.</a:t>
            </a:r>
          </a:p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• Use walk-forward evaluation and record every model choice.</a:t>
            </a:r>
          </a:p>
        </p:txBody>
      </p:sp>
    </p:spTree>
    <p:extLst>
      <p:ext uri="{BB962C8B-B14F-4D97-AF65-F5344CB8AC3E}">
        <p14:creationId xmlns:p14="http://schemas.microsoft.com/office/powerpoint/2010/main" val="14594562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D77240-D316-401C-8DDA-15445B313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Reproducibility and interview discussion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4ECC1B-B06E-49D7-92CD-6DD672B7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923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rPr>
              <a:t>A portfolio project should be inspectable, not just persuasive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578924-A52C-4903-9578-AA650D56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D62"/>
          </a:solidFill>
          <a:ln xmlns:a="http://schemas.openxmlformats.org/drawingml/2006/main" w="0">
            <a:solidFill>
              <a:srgbClr val="193D6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D63DE6-2726-4F87-AAC0-99A47CD5C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rPr>
              <a:t>MYQUANT  |  Oxford Quant-First portfolio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51322A-02B9-43DB-B66A-78D42008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rPr>
              <a:t>8 / 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4D2F85-8266-4C51-8A65-069400B3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10287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2F6B9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0CE3C7-A83E-49B7-A501-417A259A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62150"/>
            <a:ext cx="990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Repository deliverables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C9FC3D-24CB-4856-906B-7F7417C7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52725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Cached raw data  •  source code  •  unit tests  •  weights  •  metrics  •  research report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CDB5EC-0B60-41A4-B9B9-5896CAE4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67125"/>
            <a:ext cx="95250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• Explain the timing convention and the five largest sources of bias.</a:t>
            </a:r>
          </a:p>
          <a:p xmlns:a="http://schemas.openxmlformats.org/drawingml/2006/main">
            <a:pPr>
              <a:def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• Defend the choice of ETF universe and cost assumption.</a:t>
            </a:r>
          </a:p>
          <a:p xmlns:a="http://schemas.openxmlformats.org/drawingml/2006/main">
            <a:pPr>
              <a:def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• Describe why the out-of-sample result changed the narrative.</a:t>
            </a:r>
          </a:p>
          <a:p xmlns:a="http://schemas.openxmlformats.org/drawingml/2006/main">
            <a:pPr>
              <a:def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• State the next test that could disconfirm the idea.</a:t>
            </a:r>
          </a:p>
        </p:txBody>
      </p:sp>
    </p:spTree>
    <p:extLst>
      <p:ext uri="{BB962C8B-B14F-4D97-AF65-F5344CB8AC3E}">
        <p14:creationId xmlns:p14="http://schemas.microsoft.com/office/powerpoint/2010/main" val="21270179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2026-09-12T10:35:08.8750000Z</dcterms:created>
  <dcterms:modified xsi:type="dcterms:W3CDTF">2026-09-12T10:35:08.8750000Z</dcterms:modified>
</coreProperties>
</file>