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8a671c746e43d8" /><Relationship Type="http://schemas.openxmlformats.org/officeDocument/2006/relationships/extended-properties" Target="/docProps/app.xml" Id="R5a7cff6b5278406f" /><Relationship Type="http://schemas.openxmlformats.org/officeDocument/2006/relationships/officeDocument" Target="/ppt/presentation.xml" Id="Rdd308d8ffcb14b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2543a81824a0b"/>
  </p:sldMasterIdLst>
  <p:notesMasterIdLst>
    <p:notesMasterId xmlns:r="http://schemas.openxmlformats.org/officeDocument/2006/relationships" r:id="R8ef3c3a54a054351"/>
  </p:notesMasterIdLst>
  <p:sldIdLst>
    <p:sldId xmlns:r="http://schemas.openxmlformats.org/officeDocument/2006/relationships" id="256" r:id="Ra8e709ce73f94347"/>
    <p:sldId xmlns:r="http://schemas.openxmlformats.org/officeDocument/2006/relationships" id="257" r:id="R0a0930e09c3d4b2d"/>
    <p:sldId xmlns:r="http://schemas.openxmlformats.org/officeDocument/2006/relationships" id="258" r:id="R49bc14b48443450e"/>
    <p:sldId xmlns:r="http://schemas.openxmlformats.org/officeDocument/2006/relationships" id="259" r:id="R1eb695d83ea14244"/>
    <p:sldId xmlns:r="http://schemas.openxmlformats.org/officeDocument/2006/relationships" id="260" r:id="Ra3e6aed66a5740ec"/>
    <p:sldId xmlns:r="http://schemas.openxmlformats.org/officeDocument/2006/relationships" id="261" r:id="R12afb2ec783449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f1faca93bb48e2" /><Relationship Type="http://schemas.openxmlformats.org/officeDocument/2006/relationships/slideMaster" Target="/ppt/slideMasters/slideMaster1.xml" Id="Re7e2543a81824a0b" /><Relationship Type="http://schemas.openxmlformats.org/officeDocument/2006/relationships/notesMaster" Target="/ppt/notesMasters/notesMaster1.xml" Id="R8ef3c3a54a054351" /><Relationship Type="http://schemas.openxmlformats.org/officeDocument/2006/relationships/presProps" Target="/ppt/presProps.xml" Id="R6ffbbcbfeb484efd" /><Relationship Type="http://schemas.openxmlformats.org/officeDocument/2006/relationships/tableStyles" Target="/ppt/tableStyles.xml" Id="R9792f947d3fe4969" /><Relationship Type="http://schemas.openxmlformats.org/officeDocument/2006/relationships/slide" Target="/ppt/slides/slide1.xml" Id="Ra8e709ce73f94347" /><Relationship Type="http://schemas.openxmlformats.org/officeDocument/2006/relationships/slide" Target="/ppt/slides/slide2.xml" Id="R0a0930e09c3d4b2d" /><Relationship Type="http://schemas.openxmlformats.org/officeDocument/2006/relationships/slide" Target="/ppt/slides/slide3.xml" Id="R49bc14b48443450e" /><Relationship Type="http://schemas.openxmlformats.org/officeDocument/2006/relationships/slide" Target="/ppt/slides/slide4.xml" Id="R1eb695d83ea14244" /><Relationship Type="http://schemas.openxmlformats.org/officeDocument/2006/relationships/slide" Target="/ppt/slides/slide5.xml" Id="Ra3e6aed66a5740ec" /><Relationship Type="http://schemas.openxmlformats.org/officeDocument/2006/relationships/slide" Target="/ppt/slides/slide6.xml" Id="R12afb2ec7834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e91b6fa4a841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07f5162c14c49" /><Relationship Type="http://schemas.openxmlformats.org/officeDocument/2006/relationships/notesMaster" Target="/ppt/notesMasters/notesMaster1.xml" Id="R1dde3128b2af46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5f76c5cabb432d" /><Relationship Type="http://schemas.openxmlformats.org/officeDocument/2006/relationships/notesMaster" Target="/ppt/notesMasters/notesMaster1.xml" Id="R157d2386c0eb41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57438279d1437a" /><Relationship Type="http://schemas.openxmlformats.org/officeDocument/2006/relationships/notesMaster" Target="/ppt/notesMasters/notesMaster1.xml" Id="Rc1038db8e23c4b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aa6e1503794bbc" /><Relationship Type="http://schemas.openxmlformats.org/officeDocument/2006/relationships/notesMaster" Target="/ppt/notesMasters/notesMaster1.xml" Id="Ra74eaa5656794c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5792881e144c4b" /><Relationship Type="http://schemas.openxmlformats.org/officeDocument/2006/relationships/notesMaster" Target="/ppt/notesMasters/notesMaster1.xml" Id="R14f1abed15924d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b9f3ac0b504270" /><Relationship Type="http://schemas.openxmlformats.org/officeDocument/2006/relationships/notesMaster" Target="/ppt/notesMasters/notesMaster1.xml" Id="R1b86196bc9e84c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Applied Materials FY2025 Form 10-K; Applied Materials Q3 FY2026 results, 13 August 2026. Educational research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Applied Materials Q3 FY2026 results (13 Aug 2026); FY2025 Form 10-K filed 11 Dec 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Applied Materials FY2025 Form 10-K, business and segment descriptions. Final sentence is an analytical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agenda based on FY2025 Form 10-K business description and FY2026 operating update. No price target is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Applied Materials FY2025 Form 10-K risk factors and customer concentration disclosures. The valuation item is analytical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Applied Materials FY2025 Form 10-K and Q3 FY2026 results. Comparable set is a research framework, not a valuation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2ecc7324f4f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d8f9cc6ca14153" /><Relationship Type="http://schemas.openxmlformats.org/officeDocument/2006/relationships/slideLayout" Target="/ppt/slideLayouts/slideLayout1.xml" Id="R0bed384b303d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ed384b303d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2d78aaecd4291" /><Relationship Type="http://schemas.openxmlformats.org/officeDocument/2006/relationships/notesSlide" Target="/ppt/notesSlides/notesSlide1.xml" Id="R8659a4421bb040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4da4d7ed7481c" /><Relationship Type="http://schemas.openxmlformats.org/officeDocument/2006/relationships/notesSlide" Target="/ppt/notesSlides/notesSlide2.xml" Id="Rf25e7ac283284e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7aaec7a3443a1" /><Relationship Type="http://schemas.openxmlformats.org/officeDocument/2006/relationships/notesSlide" Target="/ppt/notesSlides/notesSlide3.xml" Id="Rdb3fc3a9bd5c4d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17c924ad64e53" /><Relationship Type="http://schemas.openxmlformats.org/officeDocument/2006/relationships/notesSlide" Target="/ppt/notesSlides/notesSlide4.xml" Id="R7e9f8d3230494a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db46fea404faf" /><Relationship Type="http://schemas.openxmlformats.org/officeDocument/2006/relationships/notesSlide" Target="/ppt/notesSlides/notesSlide5.xml" Id="R6c0029a904f04b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e62f1d6b3430a" /><Relationship Type="http://schemas.openxmlformats.org/officeDocument/2006/relationships/notesSlide" Target="/ppt/notesSlides/notesSlide6.xml" Id="Rcbf1d889ee5649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5EF0A-6BEA-43F1-9569-0B93A635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Applied Materials: stock-pitch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BD2BB-6FDF-49E5-B3A3-4A9406D6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Watchlist | Semiconductor equipment, AI infrastructure and process complexity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DF2DC-6A9C-48AA-A876-0499421E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0985E-5317-4D56-8C79-B001DB6D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10C2A-022B-499E-B1BD-3DBD9967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1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5A86A-1641-42D1-9082-B9774F0C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Current view: Watchlist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BE2AA-BC21-49A6-9E40-EEBA9856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942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Operating evidence is strong; a defensible Long or Short requires a current valuation, cycle-normalised earnings assumptions and a clear view of what the share price already implies.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B4E8A-C3AB-4099-85BB-6BDA3B0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7810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39B10-7A0A-4C87-B145-4DF6179E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38650"/>
            <a:ext cx="742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Research exercise only — not investment advice</a:t>
            </a:r>
          </a:p>
        </p:txBody>
      </p:sp>
    </p:spTree>
    <p:extLst>
      <p:ext uri="{BB962C8B-B14F-4D97-AF65-F5344CB8AC3E}">
        <p14:creationId xmlns:p14="http://schemas.microsoft.com/office/powerpoint/2010/main" val="221232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B8E30-A1DF-4A61-99AE-87D3DF5F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Operating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04CD4-E000-47D5-A6A1-2352DA87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Reported facts are separated from valuation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FFF73-4EDC-4F45-AE17-C13B3AF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CA5AA-35B4-411B-9988-04A19569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7CD6E-EB84-41B8-81C7-C4CC4199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2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BAF72-11F0-4E0A-ACEB-2FB4CA9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85ACC-2DC3-4982-ACC6-23003537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145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Q3 FY2026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C3821-E3BB-434A-B408-ADFC9A2E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3143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$9.12bn revenue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50.3% GAAP gross margin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$3.08bn GAAP operating income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$3.17 GAAP 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AC741-A8EA-4782-9286-CFEE8B34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D4377-B704-4C4E-8EE5-860D6AB6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145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FY2025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1A943-CFED-43B4-9CF9-83DFB0F9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$28.37bn total revenue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$20.80bn Semiconductor Systems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$6.39bn Applied Global Services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$7.96bn operating cash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57C04-B258-4ED1-A487-8B517E1C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62125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61A32-DB42-461C-8092-A5B50821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145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Capital intensity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58C71-6E5D-4530-A44D-E541612B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3143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$2.26bn FY2025 capex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Segment mix and cash conversion must be normalised through the cycle.</a:t>
            </a:r>
          </a:p>
        </p:txBody>
      </p:sp>
    </p:spTree>
    <p:extLst>
      <p:ext uri="{BB962C8B-B14F-4D97-AF65-F5344CB8AC3E}">
        <p14:creationId xmlns:p14="http://schemas.microsoft.com/office/powerpoint/2010/main" val="800024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DC302-C11B-4988-9B05-AE471B61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Why the business can matter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4A00A-BEEE-4904-88E0-5D90F7CB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Engineering lens: process complexity creates both opportunity and execution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A9F4A-0BE0-40F8-B227-3BDA63BB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76862-75FE-4169-9B03-25653E82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3CF9B-4B57-4FD1-9880-4F63F205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3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A7CD7-DAD6-4A23-AB40-2F320F2C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Equipment portfolio spans patterning, transistor and interconnect fabrication, process control and advanced packaging.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AI-related demand can raise the importance of leading-edge logic, high-bandwidth memory and packaging; it does not remove cyclicality.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Applied Global Services adds spares, services and factory-automation software linked to the installed base.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The investment question is not ‘AI is growing’; it is whether incremental process intensity, service attach and mix are above what the market already prices.</a:t>
            </a:r>
          </a:p>
        </p:txBody>
      </p:sp>
    </p:spTree>
    <p:extLst>
      <p:ext uri="{BB962C8B-B14F-4D97-AF65-F5344CB8AC3E}">
        <p14:creationId xmlns:p14="http://schemas.microsoft.com/office/powerpoint/2010/main" val="1663993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3404B-3C72-4738-BABF-E9774A51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Catalysts to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1ED6A-5D97-47E7-B457-00A6C354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Each catalyst needs an observable evidence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B2125-0133-4F19-9FE8-9C352087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EB0AC-AE70-4694-B671-F6331B5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75385-7693-4926-8264-5EFC912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4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A8DA3-C2E4-41E7-8628-AA792159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AC891-B998-4C6E-BCEA-225D6B2E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1. Advanced logic / HBM / packaging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2E6CC-68E8-4334-B677-4D129BC1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Does spending sustain and does Applied gain in material or process-control steps?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60F33-2DDB-4DF3-9A1C-5B061A4D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3D888-873C-4387-A7D3-ADE07CEE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2. Mix and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3C10E-76D8-4798-8F22-ADFA7C5E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Does higher-margin service, automation or differentiated equipment mix improve cycle-normalised economics?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9E995-5B4F-4B73-9481-1CF0F0E5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DE7E0-882A-437E-8497-944A1DE1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3. Market expectations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35848-BEB5-479A-8626-EF2CDE3F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Back-solve the growth, margin and reinvestment assumptions implied by today’s enterprise value; compare them with a bottom-up, segment-aware model.</a:t>
            </a:r>
          </a:p>
        </p:txBody>
      </p:sp>
    </p:spTree>
    <p:extLst>
      <p:ext uri="{BB962C8B-B14F-4D97-AF65-F5344CB8AC3E}">
        <p14:creationId xmlns:p14="http://schemas.microsoft.com/office/powerpoint/2010/main" val="1706317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4DC79-0751-4EC1-BAC7-1BA107FE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Disconfirming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00409-27C2-4AED-99F5-AE6729B6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The thesis should fail clearly if the evidence turns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A6813-917B-4655-8B54-CAB82FA5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A8B75-905B-4F49-B4C6-2275A279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F805D-4E05-42C2-A920-2DC5A3FD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5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8AEEE-BB71-45BE-8343-028B4307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Foundry or memory capex cuts and weaker returns on recently built capacity.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Trade and export restrictions, including greater difficulty serving some customers or regions.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Customer concentration: the FY2025 10-K reports two customers contributing approximately 19% and 15% of net revenue.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Technological substitution, share loss, execution delays or lower-than-expected services resilience.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 valuation that already assumes a sustained step-up in growth or margins.</a:t>
            </a:r>
          </a:p>
        </p:txBody>
      </p:sp>
    </p:spTree>
    <p:extLst>
      <p:ext uri="{BB962C8B-B14F-4D97-AF65-F5344CB8AC3E}">
        <p14:creationId xmlns:p14="http://schemas.microsoft.com/office/powerpoint/2010/main" val="39528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A22AB-5868-44D9-9C0D-3EF4BEFC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Valuation framework before a rating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5391D-EDF7-478B-AB28-D60BAF55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Build the model; do not reverse-engineer a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3CB75-F3BB-492C-B606-4BEA734D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0FCAE-9442-4B7A-BA90-2BE0AD2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38764-173F-4FEE-A66A-AD723473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6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B9DAB-2EEC-45F9-85DA-D5C4BB60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23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8B039-A3E1-469C-9698-A171CC92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62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DCF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C1E9C-7FBF-481C-BFEF-955A4962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Start from FY2025 cash flow and capex, then forecast revenue, margin, tax, working capital and reinvestment by segment. Sensitise WACC and terminal growth.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82BC4-3C12-4E4C-ABE1-70A59ED0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6AF25-95CC-4B85-83CC-15B1C0D4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Comparables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FD584-CCC3-43BB-8F3B-E434A244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Compare ASML, Lam Research, KLA and Tokyo Electron on growth, margin, FCF conversion and exposure—after normalising fiscal years and business mix.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2088F-785A-48EB-8220-A1E5A2D1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323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4595D-A126-4C23-80F4-8EA4A947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62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9F33C-2017-417B-8B2D-122DBE8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860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Only issue a Long or Short when market-implied assumptions differ materially from a traceable base case, with stated catalysts and risks.</a:t>
            </a:r>
          </a:p>
        </p:txBody>
      </p:sp>
    </p:spTree>
    <p:extLst>
      <p:ext uri="{BB962C8B-B14F-4D97-AF65-F5344CB8AC3E}">
        <p14:creationId xmlns:p14="http://schemas.microsoft.com/office/powerpoint/2010/main" val="1686300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2026-09-12T10:35:12.1720000Z</dcterms:created>
  <dcterms:modified xsi:type="dcterms:W3CDTF">2026-09-12T10:35:12.1720000Z</dcterms:modified>
</coreProperties>
</file>